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8082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4042"/>
            <a:ext cx="10566400" cy="420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8082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4042"/>
            <a:ext cx="10566400" cy="420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emeSaathi cover: graduate cap on the title, an open book, and Team CodeRus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6000" y="609600"/>
            <a:ext cx="2984500" cy="584200"/>
          </a:xfrm>
          <a:prstGeom prst="roundRect">
            <a:avLst>
              <a:gd name="adj" fmla="val 21739"/>
            </a:avLst>
          </a:prstGeom>
          <a:solidFill>
            <a:srgbClr val="B38D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F3D2E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Kritical Hacks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56322"/>
            <a:ext cx="457835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721803"/>
            <a:ext cx="4578350" cy="1450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 exist. Eligible people still miss them.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349943"/>
            <a:ext cx="457835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Schemes are scattered across portals, formats and languages, so a first-generation student can lose out at any one of six steps.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381818"/>
            <a:ext cx="4445000" cy="1216660"/>
          </a:xfrm>
          <a:prstGeom prst="roundRect">
            <a:avLst>
              <a:gd name="adj" fmla="val 12526"/>
            </a:avLst>
          </a:prstGeom>
          <a:solidFill>
            <a:srgbClr val="0F3D2E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4610418"/>
            <a:ext cx="410743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missed scholarship can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4943158"/>
            <a:ext cx="690007" cy="42672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33007" y="4943158"/>
            <a:ext cx="821373" cy="42672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55979" y="4943158"/>
            <a:ext cx="1163638" cy="42672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1217" y="4943158"/>
            <a:ext cx="845344" cy="42672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Hostel</a:t>
            </a:r>
            <a:endParaRPr lang="en-US" sz="1400" dirty="0"/>
          </a:p>
        </p:txBody>
      </p:sp>
      <p:pic>
        <p:nvPicPr>
          <p:cNvPr id="11" name="Image 0" descr="Mind map: eligible students miss benefits because they never learn a scheme exists, assume they do not qualify, miss the deadline, upload the wrong document, fail verification, or lack digital acce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4200" y="914400"/>
            <a:ext cx="5715000" cy="482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45500" y="635000"/>
            <a:ext cx="274701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sound familiar?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7"/>
              </a:lnSpc>
              <a:buNone/>
            </a:pPr>
            <a:r>
              <a:rPr lang="en-US" sz="2405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The solution</a:t>
            </a:r>
            <a:endParaRPr lang="en-US" sz="240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6754"/>
            <a:ext cx="10883392" cy="39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655" b="1" i="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bring the dream. </a:t>
            </a:r>
            <a:r>
              <a:rPr lang="en-US" sz="2655" b="1" i="0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handle the paperwork.</a:t>
            </a:r>
            <a:endParaRPr lang="en-US" sz="2655" dirty="0"/>
          </a:p>
        </p:txBody>
      </p:sp>
      <p:sp>
        <p:nvSpPr>
          <p:cNvPr id="4" name="Shape 2"/>
          <p:cNvSpPr/>
          <p:nvPr/>
        </p:nvSpPr>
        <p:spPr>
          <a:xfrm>
            <a:off x="812800" y="1960880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D9F2E6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80"/>
            <a:ext cx="30522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489200"/>
            <a:ext cx="3052206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knowledge 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2828291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live catalogue of central, state and institutional schemes, in structured fields.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5707" y="1960880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E4EEDF"/>
          </a:solidFill>
          <a:ln/>
        </p:spPr>
      </p:sp>
      <p:sp>
        <p:nvSpPr>
          <p:cNvPr id="9" name="Text 7"/>
          <p:cNvSpPr/>
          <p:nvPr/>
        </p:nvSpPr>
        <p:spPr>
          <a:xfrm>
            <a:off x="4614307" y="2164080"/>
            <a:ext cx="30522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4307" y="2489200"/>
            <a:ext cx="3052206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Personalized matcher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4307" y="2828291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profile once. See only schemes you qualify for, ranked by fit and deadline.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8614" y="1960880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B38D6B"/>
          </a:solidFill>
          <a:ln/>
        </p:spPr>
      </p:sp>
      <p:sp>
        <p:nvSpPr>
          <p:cNvPr id="13" name="Text 11"/>
          <p:cNvSpPr/>
          <p:nvPr/>
        </p:nvSpPr>
        <p:spPr>
          <a:xfrm>
            <a:off x="8187214" y="2164080"/>
            <a:ext cx="3052206" cy="24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264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64" dirty="0"/>
          </a:p>
        </p:txBody>
      </p:sp>
      <p:sp>
        <p:nvSpPr>
          <p:cNvPr id="14" name="Text 12"/>
          <p:cNvSpPr/>
          <p:nvPr/>
        </p:nvSpPr>
        <p:spPr>
          <a:xfrm>
            <a:off x="8187214" y="2461657"/>
            <a:ext cx="319190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5"/>
              </a:lnSpc>
              <a:buNone/>
            </a:pPr>
            <a:r>
              <a:rPr lang="en-US" sz="1744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Auto-fill, not auto-submit</a:t>
            </a:r>
            <a:endParaRPr lang="en-US" sz="1744" dirty="0"/>
          </a:p>
        </p:txBody>
      </p:sp>
      <p:sp>
        <p:nvSpPr>
          <p:cNvPr id="15" name="Text 13"/>
          <p:cNvSpPr/>
          <p:nvPr/>
        </p:nvSpPr>
        <p:spPr>
          <a:xfrm>
            <a:off x="8187214" y="3005376"/>
            <a:ext cx="3052206" cy="64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158" dirty="0">
                <a:solidFill>
                  <a:srgbClr val="2A24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Pre-fills verified details and checks documents. You review and confirm every submission.</a:t>
            </a:r>
            <a:endParaRPr lang="en-US" sz="1158" dirty="0"/>
          </a:p>
        </p:txBody>
      </p:sp>
      <p:sp>
        <p:nvSpPr>
          <p:cNvPr id="16" name="Shape 14"/>
          <p:cNvSpPr/>
          <p:nvPr/>
        </p:nvSpPr>
        <p:spPr>
          <a:xfrm>
            <a:off x="812800" y="3977641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EADFCB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4180841"/>
            <a:ext cx="3052206" cy="24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264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64" dirty="0"/>
          </a:p>
        </p:txBody>
      </p:sp>
      <p:sp>
        <p:nvSpPr>
          <p:cNvPr id="18" name="Text 16"/>
          <p:cNvSpPr/>
          <p:nvPr/>
        </p:nvSpPr>
        <p:spPr>
          <a:xfrm>
            <a:off x="1041400" y="4478417"/>
            <a:ext cx="319190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9"/>
              </a:lnSpc>
              <a:buNone/>
            </a:pPr>
            <a:r>
              <a:rPr lang="en-US" sz="1626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 and status tracker</a:t>
            </a:r>
            <a:endParaRPr lang="en-US" sz="1626" dirty="0"/>
          </a:p>
        </p:txBody>
      </p:sp>
      <p:sp>
        <p:nvSpPr>
          <p:cNvPr id="19" name="Text 17"/>
          <p:cNvSpPr/>
          <p:nvPr/>
        </p:nvSpPr>
        <p:spPr>
          <a:xfrm>
            <a:off x="1041400" y="5022135"/>
            <a:ext cx="3052206" cy="64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158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Follows every stage after submission and nudges you by WhatsApp, SMS or app.</a:t>
            </a:r>
            <a:endParaRPr lang="en-US" sz="1158" dirty="0"/>
          </a:p>
        </p:txBody>
      </p:sp>
      <p:sp>
        <p:nvSpPr>
          <p:cNvPr id="20" name="Shape 18"/>
          <p:cNvSpPr/>
          <p:nvPr/>
        </p:nvSpPr>
        <p:spPr>
          <a:xfrm>
            <a:off x="4385707" y="3977641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F3E7C9"/>
          </a:solidFill>
          <a:ln/>
        </p:spPr>
      </p:sp>
      <p:sp>
        <p:nvSpPr>
          <p:cNvPr id="21" name="Text 19"/>
          <p:cNvSpPr/>
          <p:nvPr/>
        </p:nvSpPr>
        <p:spPr>
          <a:xfrm>
            <a:off x="4614307" y="4180841"/>
            <a:ext cx="3052206" cy="24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264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64" dirty="0"/>
          </a:p>
        </p:txBody>
      </p:sp>
      <p:sp>
        <p:nvSpPr>
          <p:cNvPr id="22" name="Text 20"/>
          <p:cNvSpPr/>
          <p:nvPr/>
        </p:nvSpPr>
        <p:spPr>
          <a:xfrm>
            <a:off x="4614307" y="4478417"/>
            <a:ext cx="305220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7"/>
              </a:lnSpc>
              <a:buNone/>
            </a:pPr>
            <a:r>
              <a:rPr lang="en-US" sz="1614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Multilingual, low-bandwidth</a:t>
            </a:r>
            <a:endParaRPr lang="en-US" sz="1614" dirty="0"/>
          </a:p>
        </p:txBody>
      </p:sp>
      <p:sp>
        <p:nvSpPr>
          <p:cNvPr id="23" name="Text 21"/>
          <p:cNvSpPr/>
          <p:nvPr/>
        </p:nvSpPr>
        <p:spPr>
          <a:xfrm>
            <a:off x="4614307" y="5022135"/>
            <a:ext cx="3052206" cy="64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158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Voice, WhatsApp and SMS access in Indian languages, built for low-literacy users.</a:t>
            </a:r>
            <a:endParaRPr lang="en-US" sz="1158" dirty="0"/>
          </a:p>
        </p:txBody>
      </p:sp>
      <p:sp>
        <p:nvSpPr>
          <p:cNvPr id="24" name="Shape 22"/>
          <p:cNvSpPr/>
          <p:nvPr/>
        </p:nvSpPr>
        <p:spPr>
          <a:xfrm>
            <a:off x="7958614" y="3977641"/>
            <a:ext cx="3420507" cy="1864360"/>
          </a:xfrm>
          <a:prstGeom prst="roundRect">
            <a:avLst>
              <a:gd name="adj" fmla="val 9537"/>
            </a:avLst>
          </a:prstGeom>
          <a:solidFill>
            <a:srgbClr val="F2DCD0"/>
          </a:solidFill>
          <a:ln/>
        </p:spPr>
      </p:sp>
      <p:sp>
        <p:nvSpPr>
          <p:cNvPr id="25" name="Text 23"/>
          <p:cNvSpPr/>
          <p:nvPr/>
        </p:nvSpPr>
        <p:spPr>
          <a:xfrm>
            <a:off x="8187214" y="4180841"/>
            <a:ext cx="30522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3D2E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7214" y="4505961"/>
            <a:ext cx="3052206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and privacy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87214" y="4845050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Encrypted documents, explicit consent and a log of every action taken.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63000" y="635000"/>
            <a:ext cx="248539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(yes, all six!)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Tech stack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568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 messy portal to a pre-filled 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97661"/>
            <a:ext cx="3302000" cy="723344"/>
          </a:xfrm>
          <a:prstGeom prst="roundRect">
            <a:avLst>
              <a:gd name="adj" fmla="val 17557"/>
            </a:avLst>
          </a:prstGeom>
          <a:gradFill rotWithShape="1">
            <a:gsLst>
              <a:gs pos="0">
                <a:srgbClr val="F7D98B"/>
              </a:gs>
              <a:gs pos="100000">
                <a:srgbClr val="F2B88A"/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952500" y="1648461"/>
            <a:ext cx="3113278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</a:t>
            </a: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1.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874362"/>
            <a:ext cx="3113278" cy="421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A32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form, text + voice, Hindi and English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371804"/>
            <a:ext cx="3302000" cy="723424"/>
          </a:xfrm>
          <a:prstGeom prst="roundRect">
            <a:avLst>
              <a:gd name="adj" fmla="val 17555"/>
            </a:avLst>
          </a:prstGeom>
          <a:gradFill rotWithShape="1">
            <a:gsLst>
              <a:gs pos="0">
                <a:srgbClr val="F7D98B"/>
              </a:gs>
              <a:gs pos="100000">
                <a:srgbClr val="F2B88A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952500" y="2422604"/>
            <a:ext cx="3113278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46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PLANNED</a:t>
            </a: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2. Discover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2648507"/>
            <a:ext cx="3113278" cy="421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A32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TinyFish Search + Fetch (simulated in demo)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146028"/>
            <a:ext cx="3302000" cy="723344"/>
          </a:xfrm>
          <a:prstGeom prst="roundRect">
            <a:avLst>
              <a:gd name="adj" fmla="val 17557"/>
            </a:avLst>
          </a:prstGeom>
          <a:gradFill rotWithShape="1">
            <a:gsLst>
              <a:gs pos="0">
                <a:srgbClr val="F7D98B"/>
              </a:gs>
              <a:gs pos="100000">
                <a:srgbClr val="F2B88A"/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952500" y="3295571"/>
            <a:ext cx="3113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PARTLY BUILT</a:t>
            </a: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3. Understand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500" y="3521632"/>
            <a:ext cx="311327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A32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engine live. NLP model is next.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920173"/>
            <a:ext cx="3302000" cy="723424"/>
          </a:xfrm>
          <a:prstGeom prst="roundRect">
            <a:avLst>
              <a:gd name="adj" fmla="val 17555"/>
            </a:avLst>
          </a:prstGeom>
          <a:gradFill rotWithShape="1">
            <a:gsLst>
              <a:gs pos="0">
                <a:srgbClr val="F7D98B"/>
              </a:gs>
              <a:gs pos="100000">
                <a:srgbClr val="F2B88A"/>
              </a:gs>
            </a:gsLst>
            <a:lin ang="27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952500" y="4069795"/>
            <a:ext cx="3113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V1</a:t>
            </a: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4. Rank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2500" y="4295854"/>
            <a:ext cx="311327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A32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Fit, benefit, deadline score. ML is next.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694397"/>
            <a:ext cx="3302000" cy="723424"/>
          </a:xfrm>
          <a:prstGeom prst="roundRect">
            <a:avLst>
              <a:gd name="adj" fmla="val 17555"/>
            </a:avLst>
          </a:prstGeom>
          <a:gradFill rotWithShape="1">
            <a:gsLst>
              <a:gs pos="0">
                <a:srgbClr val="F7D98B"/>
              </a:gs>
              <a:gs pos="100000">
                <a:srgbClr val="F2B88A"/>
              </a:gs>
            </a:gsLst>
            <a:lin ang="27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52500" y="4745197"/>
            <a:ext cx="3113278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PARTLY BUILT</a:t>
            </a: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5. Apply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2500" y="4971098"/>
            <a:ext cx="3113278" cy="421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A32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Pre-fill + review live. TinyFish Agent is next.</a:t>
            </a:r>
            <a:endParaRPr lang="en-US" sz="1200" dirty="0"/>
          </a:p>
        </p:txBody>
      </p:sp>
      <p:pic>
        <p:nvPicPr>
          <p:cNvPr id="19" name="Image 0" descr="Working prototype: profile form with a Hindi toggle and a Speak button">    </p:cNvPr>
          <p:cNvPicPr>
            <a:picLocks noChangeAspect="1"/>
          </p:cNvPicPr>
          <p:nvPr/>
        </p:nvPicPr>
        <p:blipFill>
          <a:blip r:embed="rId1"/>
          <a:srcRect l="0" r="0" t="-13" b="-13"/>
          <a:stretch/>
        </p:blipFill>
        <p:spPr>
          <a:xfrm>
            <a:off x="4330700" y="1610361"/>
            <a:ext cx="3403600" cy="3530600"/>
          </a:xfrm>
          <a:prstGeom prst="roundRect">
            <a:avLst>
              <a:gd name="adj" fmla="val 3358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4324350" y="1604011"/>
            <a:ext cx="3416300" cy="3543300"/>
          </a:xfrm>
          <a:prstGeom prst="roundRect">
            <a:avLst>
              <a:gd name="adj" fmla="val 3532"/>
            </a:avLst>
          </a:prstGeom>
          <a:noFill/>
          <a:ln w="12700">
            <a:solidFill>
              <a:srgbClr val="E3DC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18000" y="5204461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prototype: type or speak</a:t>
            </a:r>
            <a:endParaRPr lang="en-US" sz="1200" dirty="0"/>
          </a:p>
        </p:txBody>
      </p:sp>
      <p:pic>
        <p:nvPicPr>
          <p:cNvPr id="22" name="Image 1" descr="Working prototype: ranked scholarship matches with fit and deadline">    </p:cNvPr>
          <p:cNvPicPr>
            <a:picLocks noChangeAspect="1"/>
          </p:cNvPicPr>
          <p:nvPr/>
        </p:nvPicPr>
        <p:blipFill>
          <a:blip r:embed="rId2"/>
          <a:srcRect l="-476" r="-476" t="0" b="0"/>
          <a:stretch/>
        </p:blipFill>
        <p:spPr>
          <a:xfrm>
            <a:off x="7962900" y="1610361"/>
            <a:ext cx="3403600" cy="3530600"/>
          </a:xfrm>
          <a:prstGeom prst="roundRect">
            <a:avLst>
              <a:gd name="adj" fmla="val 3358"/>
            </a:avLst>
          </a:prstGeom>
        </p:spPr>
      </p:pic>
      <p:sp>
        <p:nvSpPr>
          <p:cNvPr id="23" name="Shape 19"/>
          <p:cNvSpPr/>
          <p:nvPr/>
        </p:nvSpPr>
        <p:spPr>
          <a:xfrm>
            <a:off x="7956550" y="1604011"/>
            <a:ext cx="3416300" cy="3543300"/>
          </a:xfrm>
          <a:prstGeom prst="roundRect">
            <a:avLst>
              <a:gd name="adj" fmla="val 3532"/>
            </a:avLst>
          </a:prstGeom>
          <a:noFill/>
          <a:ln w="12700">
            <a:solidFill>
              <a:srgbClr val="E3DC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50200" y="5204461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prototype: ranked matches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2800" y="5628639"/>
            <a:ext cx="10566400" cy="594360"/>
          </a:xfrm>
          <a:prstGeom prst="roundRect">
            <a:avLst>
              <a:gd name="adj" fmla="val 25641"/>
            </a:avLst>
          </a:prstGeom>
          <a:solidFill>
            <a:srgbClr val="0F3D2E"/>
          </a:solidFill>
          <a:ln/>
        </p:spPr>
      </p:sp>
      <p:sp>
        <p:nvSpPr>
          <p:cNvPr id="26" name="Text 22"/>
          <p:cNvSpPr/>
          <p:nvPr/>
        </p:nvSpPr>
        <p:spPr>
          <a:xfrm>
            <a:off x="1016000" y="5819139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PLANNED STACK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628900" y="5755639"/>
            <a:ext cx="824468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529568" y="5755639"/>
            <a:ext cx="2004695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 + pgvector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10463" y="5755639"/>
            <a:ext cx="1351042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Redis + Celery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037705" y="5755639"/>
            <a:ext cx="1382554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Tesseract OCR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496459" y="5755639"/>
            <a:ext cx="854631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S3 or R2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9427290" y="5755639"/>
            <a:ext cx="796925" cy="34036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493000" y="431800"/>
            <a:ext cx="379349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built = live in the demo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Price economics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8082"/>
            <a:ext cx="1088339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₹200 to fully assist one application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3556000" cy="2468880"/>
          </a:xfrm>
          <a:prstGeom prst="roundRect">
            <a:avLst>
              <a:gd name="adj" fmla="val 7202"/>
            </a:avLst>
          </a:prstGeom>
          <a:solidFill>
            <a:srgbClr val="B38D6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71700"/>
            <a:ext cx="32440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Estimated fully assisted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35861"/>
            <a:ext cx="3244088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₹94–₹195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16000" y="3807461"/>
            <a:ext cx="32440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 application with human review. About ₹64–₹95 without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589782"/>
            <a:ext cx="3556000" cy="1379220"/>
          </a:xfrm>
          <a:prstGeom prst="roundRect">
            <a:avLst>
              <a:gd name="adj" fmla="val 12891"/>
            </a:avLst>
          </a:prstGeom>
          <a:solidFill>
            <a:srgbClr val="E4EED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767582"/>
            <a:ext cx="32440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₹10 crore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16000" y="5173982"/>
            <a:ext cx="3244088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benefits unlocked when 10,000 students access an average ₹10,000 scholarship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2800" y="1968500"/>
            <a:ext cx="6756400" cy="604520"/>
          </a:xfrm>
          <a:prstGeom prst="roundRect">
            <a:avLst>
              <a:gd name="adj" fmla="val 21008"/>
            </a:avLst>
          </a:prstGeom>
          <a:solidFill>
            <a:srgbClr val="1246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75200" y="2072639"/>
            <a:ext cx="23545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TinyFish Agent: 40 steps × $0.016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13600" y="2207261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3600" y="2207261"/>
            <a:ext cx="11430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15" name="Text 13"/>
          <p:cNvSpPr/>
          <p:nvPr/>
        </p:nvSpPr>
        <p:spPr>
          <a:xfrm>
            <a:off x="9220200" y="2057400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$0.64, about ₹55–₹60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22800" y="2939414"/>
            <a:ext cx="6756400" cy="574040"/>
          </a:xfrm>
          <a:prstGeom prst="roundRect">
            <a:avLst>
              <a:gd name="adj" fmla="val 22124"/>
            </a:avLst>
          </a:prstGeom>
          <a:solidFill>
            <a:srgbClr val="1246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75200" y="3028314"/>
            <a:ext cx="23545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explanation, matching, document checks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13600" y="3162936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3600" y="3162936"/>
            <a:ext cx="3810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20200" y="3119757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₹5–₹20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2800" y="3879850"/>
            <a:ext cx="6756400" cy="391160"/>
          </a:xfrm>
          <a:prstGeom prst="roundRect">
            <a:avLst>
              <a:gd name="adj" fmla="val 32468"/>
            </a:avLst>
          </a:prstGeom>
          <a:solidFill>
            <a:srgbClr val="12463A"/>
          </a:solidFill>
          <a:ln/>
        </p:spPr>
      </p:sp>
      <p:sp>
        <p:nvSpPr>
          <p:cNvPr id="22" name="Text 20"/>
          <p:cNvSpPr/>
          <p:nvPr/>
        </p:nvSpPr>
        <p:spPr>
          <a:xfrm>
            <a:off x="4775200" y="3976371"/>
            <a:ext cx="23545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OCR/document processing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13600" y="4011932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3600" y="4011932"/>
            <a:ext cx="1905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25" name="Text 23"/>
          <p:cNvSpPr/>
          <p:nvPr/>
        </p:nvSpPr>
        <p:spPr>
          <a:xfrm>
            <a:off x="9220200" y="396875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₹2–₹10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22800" y="4637407"/>
            <a:ext cx="6756400" cy="391160"/>
          </a:xfrm>
          <a:prstGeom prst="roundRect">
            <a:avLst>
              <a:gd name="adj" fmla="val 32468"/>
            </a:avLst>
          </a:prstGeom>
          <a:solidFill>
            <a:srgbClr val="1246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75200" y="4733925"/>
            <a:ext cx="23545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Cloud, storage, notifications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13600" y="4769486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29" name="Shape 27"/>
          <p:cNvSpPr/>
          <p:nvPr/>
        </p:nvSpPr>
        <p:spPr>
          <a:xfrm>
            <a:off x="7213600" y="4769486"/>
            <a:ext cx="9525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30" name="Text 28"/>
          <p:cNvSpPr/>
          <p:nvPr/>
        </p:nvSpPr>
        <p:spPr>
          <a:xfrm>
            <a:off x="9220200" y="4726307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₹2–₹5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22800" y="5394961"/>
            <a:ext cx="6756400" cy="574040"/>
          </a:xfrm>
          <a:prstGeom prst="roundRect">
            <a:avLst>
              <a:gd name="adj" fmla="val 22124"/>
            </a:avLst>
          </a:prstGeom>
          <a:solidFill>
            <a:srgbClr val="12463A"/>
          </a:solidFill>
          <a:ln/>
        </p:spPr>
      </p:sp>
      <p:sp>
        <p:nvSpPr>
          <p:cNvPr id="32" name="Text 30"/>
          <p:cNvSpPr/>
          <p:nvPr/>
        </p:nvSpPr>
        <p:spPr>
          <a:xfrm>
            <a:off x="4775200" y="5483861"/>
            <a:ext cx="23545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review for premium cases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13600" y="5618482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34" name="Shape 32"/>
          <p:cNvSpPr/>
          <p:nvPr/>
        </p:nvSpPr>
        <p:spPr>
          <a:xfrm>
            <a:off x="7213600" y="5618482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35" name="Text 33"/>
          <p:cNvSpPr/>
          <p:nvPr/>
        </p:nvSpPr>
        <p:spPr>
          <a:xfrm>
            <a:off x="9220200" y="55753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₹30–₹100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2000" y="381000"/>
            <a:ext cx="28778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small cost. big unlock.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Revenue model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808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for students. Paid by institutions and funders.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612389"/>
            <a:ext cx="2546350" cy="1780540"/>
          </a:xfrm>
          <a:prstGeom prst="roundRect">
            <a:avLst>
              <a:gd name="adj" fmla="val 8559"/>
            </a:avLst>
          </a:prstGeom>
          <a:solidFill>
            <a:srgbClr val="E8D3BB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752089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Freemium upgrades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200" y="3007361"/>
            <a:ext cx="230879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and parents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200" y="3256282"/>
            <a:ext cx="230879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discovery; ₹99–₹299 per premium assisted application; ₹299–₹499/year for priority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86150" y="2612389"/>
            <a:ext cx="2546350" cy="1780540"/>
          </a:xfrm>
          <a:prstGeom prst="roundRect">
            <a:avLst>
              <a:gd name="adj" fmla="val 8559"/>
            </a:avLst>
          </a:prstGeom>
          <a:solidFill>
            <a:srgbClr val="E4EEDF"/>
          </a:solidFill>
          <a:ln/>
        </p:spPr>
      </p:sp>
      <p:sp>
        <p:nvSpPr>
          <p:cNvPr id="9" name="Text 7"/>
          <p:cNvSpPr/>
          <p:nvPr/>
        </p:nvSpPr>
        <p:spPr>
          <a:xfrm>
            <a:off x="3638550" y="2752089"/>
            <a:ext cx="23939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 and college SaaS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8550" y="3007361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Schools, colleges, coaching centers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8550" y="3454400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₹1–5 lakh/year, or ₹20–₹100 per student/year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9500" y="2612389"/>
            <a:ext cx="2546350" cy="1780540"/>
          </a:xfrm>
          <a:prstGeom prst="roundRect">
            <a:avLst>
              <a:gd name="adj" fmla="val 8559"/>
            </a:avLst>
          </a:prstGeom>
          <a:solidFill>
            <a:srgbClr val="EADFCB"/>
          </a:solidFill>
          <a:ln/>
        </p:spPr>
      </p:sp>
      <p:sp>
        <p:nvSpPr>
          <p:cNvPr id="13" name="Text 11"/>
          <p:cNvSpPr/>
          <p:nvPr/>
        </p:nvSpPr>
        <p:spPr>
          <a:xfrm>
            <a:off x="6311900" y="2752089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Government SaaS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1900" y="3007361"/>
            <a:ext cx="230879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education departments, welfare departments, districts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1900" y="3652521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₹10 lakh–₹1 crore+ depending on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2850" y="2612389"/>
            <a:ext cx="2546350" cy="1780540"/>
          </a:xfrm>
          <a:prstGeom prst="roundRect">
            <a:avLst>
              <a:gd name="adj" fmla="val 8559"/>
            </a:avLst>
          </a:prstGeom>
          <a:solidFill>
            <a:srgbClr val="D9F2E6"/>
          </a:solidFill>
          <a:ln/>
        </p:spPr>
      </p:sp>
      <p:sp>
        <p:nvSpPr>
          <p:cNvPr id="17" name="Text 15"/>
          <p:cNvSpPr/>
          <p:nvPr/>
        </p:nvSpPr>
        <p:spPr>
          <a:xfrm>
            <a:off x="8985250" y="2752089"/>
            <a:ext cx="23087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Outcome-based contracts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5250" y="3211832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Governments, CSR funders, foundations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85250" y="3658871"/>
            <a:ext cx="230879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₹50–₹300 per completed application, or a percentage of tracked disbursals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519932"/>
            <a:ext cx="2546350" cy="1576070"/>
          </a:xfrm>
          <a:prstGeom prst="roundRect">
            <a:avLst>
              <a:gd name="adj" fmla="val 9670"/>
            </a:avLst>
          </a:prstGeom>
          <a:solidFill>
            <a:srgbClr val="F3E7C9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00" y="4659632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CSR and NGO programs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5200" y="4914900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NGOs, foundations, corporate CSR teams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200" y="5361939"/>
            <a:ext cx="230879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₹5–₹50 lakh per scholarship-access campaign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86150" y="4519932"/>
            <a:ext cx="2546350" cy="1576070"/>
          </a:xfrm>
          <a:prstGeom prst="roundRect">
            <a:avLst>
              <a:gd name="adj" fmla="val 9670"/>
            </a:avLst>
          </a:prstGeom>
          <a:solidFill>
            <a:srgbClr val="E4EEDF"/>
          </a:solidFill>
          <a:ln/>
        </p:spPr>
      </p:sp>
      <p:sp>
        <p:nvSpPr>
          <p:cNvPr id="25" name="Text 23"/>
          <p:cNvSpPr/>
          <p:nvPr/>
        </p:nvSpPr>
        <p:spPr>
          <a:xfrm>
            <a:off x="3638550" y="4659632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API/data licensing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38550" y="4914900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Banks, edtechs, career platforms, insurers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8550" y="5361939"/>
            <a:ext cx="230879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₹1–₹10 per eligibility check; enterprise plans for bulk access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59500" y="4519932"/>
            <a:ext cx="2546350" cy="1576070"/>
          </a:xfrm>
          <a:prstGeom prst="roundRect">
            <a:avLst>
              <a:gd name="adj" fmla="val 9670"/>
            </a:avLst>
          </a:prstGeom>
          <a:solidFill>
            <a:srgbClr val="F2DCD0"/>
          </a:solidFill>
          <a:ln/>
        </p:spPr>
      </p:sp>
      <p:sp>
        <p:nvSpPr>
          <p:cNvPr id="29" name="Text 27"/>
          <p:cNvSpPr/>
          <p:nvPr/>
        </p:nvSpPr>
        <p:spPr>
          <a:xfrm>
            <a:off x="6311900" y="4659632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Counselor marketplace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11900" y="4914900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counselors, CSC operators, NGOs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1900" y="5361939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10–20% of paid assisted-application fee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32850" y="4519932"/>
            <a:ext cx="2546350" cy="1576070"/>
          </a:xfrm>
          <a:prstGeom prst="roundRect">
            <a:avLst>
              <a:gd name="adj" fmla="val 9670"/>
            </a:avLst>
          </a:prstGeom>
          <a:solidFill>
            <a:srgbClr val="EADFCB"/>
          </a:solidFill>
          <a:ln/>
        </p:spPr>
      </p:sp>
      <p:sp>
        <p:nvSpPr>
          <p:cNvPr id="33" name="Text 31"/>
          <p:cNvSpPr/>
          <p:nvPr/>
        </p:nvSpPr>
        <p:spPr>
          <a:xfrm>
            <a:off x="8985250" y="4659632"/>
            <a:ext cx="230879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Sponsorships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85250" y="4914900"/>
            <a:ext cx="230879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Banks, NBFCs, edtechs, test-prep companies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85250" y="5361939"/>
            <a:ext cx="230879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Fixed campaign fee; clearly separated from official scheme information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37500" y="381000"/>
            <a:ext cx="327025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free for students, always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Revenue model: a projection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8082"/>
            <a:ext cx="1088339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100 schools and two pilots could earn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115821"/>
            <a:ext cx="3556000" cy="2108200"/>
          </a:xfrm>
          <a:prstGeom prst="roundRect">
            <a:avLst>
              <a:gd name="adj" fmla="val 8434"/>
            </a:avLst>
          </a:prstGeom>
          <a:solidFill>
            <a:srgbClr val="B38D6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319021"/>
            <a:ext cx="32440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annual revenue, not actual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583182"/>
            <a:ext cx="3244088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₹3.2–₹3.4 crore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3594100"/>
            <a:ext cx="32440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Assumes 100 partner schools, 50,000 active students and 2 government pilots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376421"/>
            <a:ext cx="3556000" cy="1592580"/>
          </a:xfrm>
          <a:prstGeom prst="roundRect">
            <a:avLst>
              <a:gd name="adj" fmla="val 11164"/>
            </a:avLst>
          </a:prstGeom>
          <a:solidFill>
            <a:srgbClr val="E4EED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554221"/>
            <a:ext cx="3244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future estimate, not actual revenue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173982"/>
            <a:ext cx="3244088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the assumptions shown. To be validated through school, NGO and government pilots.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2800" y="2115821"/>
            <a:ext cx="6756400" cy="622300"/>
          </a:xfrm>
          <a:prstGeom prst="roundRect">
            <a:avLst>
              <a:gd name="adj" fmla="val 20408"/>
            </a:avLst>
          </a:prstGeom>
          <a:solidFill>
            <a:srgbClr val="1246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75200" y="2204721"/>
            <a:ext cx="24853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 SaaS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5200" y="2435861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E3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schools × ₹2 lakh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40600" y="2363471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40600" y="2363471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16" name="Text 14"/>
          <p:cNvSpPr/>
          <p:nvPr/>
        </p:nvSpPr>
        <p:spPr>
          <a:xfrm>
            <a:off x="9347200" y="2311400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 crore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22800" y="2923539"/>
            <a:ext cx="6756400" cy="622300"/>
          </a:xfrm>
          <a:prstGeom prst="roundRect">
            <a:avLst>
              <a:gd name="adj" fmla="val 20408"/>
            </a:avLst>
          </a:prstGeom>
          <a:solidFill>
            <a:srgbClr val="1246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75200" y="3012439"/>
            <a:ext cx="24853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student plans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5200" y="3243582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E3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5,000 users × ₹399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40600" y="3171189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40600" y="3171189"/>
            <a:ext cx="1905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22" name="Text 20"/>
          <p:cNvSpPr/>
          <p:nvPr/>
        </p:nvSpPr>
        <p:spPr>
          <a:xfrm>
            <a:off x="9347200" y="3119121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₹20 lakh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22800" y="3731261"/>
            <a:ext cx="6756400" cy="622300"/>
          </a:xfrm>
          <a:prstGeom prst="roundRect">
            <a:avLst>
              <a:gd name="adj" fmla="val 20408"/>
            </a:avLst>
          </a:prstGeom>
          <a:solidFill>
            <a:srgbClr val="1246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75200" y="3820161"/>
            <a:ext cx="24853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Government pilots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5200" y="405130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E3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departments × ₹25 lakh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40600" y="3978911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27" name="Shape 25"/>
          <p:cNvSpPr/>
          <p:nvPr/>
        </p:nvSpPr>
        <p:spPr>
          <a:xfrm>
            <a:off x="7340600" y="3978911"/>
            <a:ext cx="47625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28" name="Text 26"/>
          <p:cNvSpPr/>
          <p:nvPr/>
        </p:nvSpPr>
        <p:spPr>
          <a:xfrm>
            <a:off x="9347200" y="3926839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₹50 lakh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22800" y="4538982"/>
            <a:ext cx="6756400" cy="622300"/>
          </a:xfrm>
          <a:prstGeom prst="roundRect">
            <a:avLst>
              <a:gd name="adj" fmla="val 20408"/>
            </a:avLst>
          </a:prstGeom>
          <a:solidFill>
            <a:srgbClr val="12463A"/>
          </a:solidFill>
          <a:ln/>
        </p:spPr>
      </p:sp>
      <p:sp>
        <p:nvSpPr>
          <p:cNvPr id="30" name="Text 28"/>
          <p:cNvSpPr/>
          <p:nvPr/>
        </p:nvSpPr>
        <p:spPr>
          <a:xfrm>
            <a:off x="4775200" y="4627882"/>
            <a:ext cx="24853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CSR/NGO campaigns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5200" y="4859021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E3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programs × ₹15 lakh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40600" y="4786632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33" name="Shape 31"/>
          <p:cNvSpPr/>
          <p:nvPr/>
        </p:nvSpPr>
        <p:spPr>
          <a:xfrm>
            <a:off x="7340600" y="4786632"/>
            <a:ext cx="4318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34" name="Text 32"/>
          <p:cNvSpPr/>
          <p:nvPr/>
        </p:nvSpPr>
        <p:spPr>
          <a:xfrm>
            <a:off x="9347200" y="4734561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₹45 lakh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22800" y="5346700"/>
            <a:ext cx="6756400" cy="622300"/>
          </a:xfrm>
          <a:prstGeom prst="roundRect">
            <a:avLst>
              <a:gd name="adj" fmla="val 20408"/>
            </a:avLst>
          </a:prstGeom>
          <a:solidFill>
            <a:srgbClr val="12463A"/>
          </a:solidFill>
          <a:ln/>
        </p:spPr>
      </p:sp>
      <p:sp>
        <p:nvSpPr>
          <p:cNvPr id="36" name="Text 34"/>
          <p:cNvSpPr/>
          <p:nvPr/>
        </p:nvSpPr>
        <p:spPr>
          <a:xfrm>
            <a:off x="4775200" y="5435600"/>
            <a:ext cx="24853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licensing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75200" y="5666739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E3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20,000 paid checks/month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40600" y="5594350"/>
            <a:ext cx="1905000" cy="127000"/>
          </a:xfrm>
          <a:prstGeom prst="roundRect">
            <a:avLst>
              <a:gd name="adj" fmla="val 50000"/>
            </a:avLst>
          </a:prstGeom>
          <a:solidFill>
            <a:srgbClr val="16503C"/>
          </a:solidFill>
          <a:ln/>
        </p:spPr>
      </p:sp>
      <p:sp>
        <p:nvSpPr>
          <p:cNvPr id="39" name="Shape 37"/>
          <p:cNvSpPr/>
          <p:nvPr/>
        </p:nvSpPr>
        <p:spPr>
          <a:xfrm>
            <a:off x="7340600" y="5594350"/>
            <a:ext cx="241300" cy="127000"/>
          </a:xfrm>
          <a:prstGeom prst="roundRect">
            <a:avLst>
              <a:gd name="adj" fmla="val 50000"/>
            </a:avLst>
          </a:prstGeom>
          <a:solidFill>
            <a:srgbClr val="B38D6B"/>
          </a:solidFill>
          <a:ln/>
        </p:spPr>
      </p:sp>
      <p:sp>
        <p:nvSpPr>
          <p:cNvPr id="40" name="Text 38"/>
          <p:cNvSpPr/>
          <p:nvPr/>
        </p:nvSpPr>
        <p:spPr>
          <a:xfrm>
            <a:off x="9347200" y="5542282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₹10–₹25 lakh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82000" y="381000"/>
            <a:ext cx="28778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B38D6B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back-of-napkin math!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Future scope</a:t>
            </a:r>
            <a:endParaRPr lang="en-US" sz="2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808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scholarship finder to benefits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11961"/>
            <a:ext cx="1111568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87868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15582" y="1711961"/>
            <a:ext cx="947341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6423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54137" y="1711961"/>
            <a:ext cx="1149668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67304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5019" y="1711961"/>
            <a:ext cx="1149112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7631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35345" y="1711961"/>
            <a:ext cx="1149826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48671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76386" y="1711961"/>
            <a:ext cx="965597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5483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3197" y="1711961"/>
            <a:ext cx="549275" cy="34036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45972" y="1748789"/>
            <a:ext cx="115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8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73687" y="1711961"/>
            <a:ext cx="914876" cy="340360"/>
          </a:xfrm>
          <a:prstGeom prst="roundRect">
            <a:avLst>
              <a:gd name="adj" fmla="val 50000"/>
            </a:avLst>
          </a:prstGeom>
          <a:solidFill>
            <a:srgbClr val="0583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Renewal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2225039"/>
            <a:ext cx="3437414" cy="1206500"/>
          </a:xfrm>
          <a:prstGeom prst="roundRect">
            <a:avLst>
              <a:gd name="adj" fmla="val 12632"/>
            </a:avLst>
          </a:prstGeom>
          <a:solidFill>
            <a:srgbClr val="D9F2E6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2377439"/>
            <a:ext cx="31742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scholarships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2661921"/>
            <a:ext cx="317426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Pensions, housing, farmer subsidies, health, skills and MSME schemes.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77214" y="2225039"/>
            <a:ext cx="3437493" cy="1206500"/>
          </a:xfrm>
          <a:prstGeom prst="roundRect">
            <a:avLst>
              <a:gd name="adj" fmla="val 12632"/>
            </a:avLst>
          </a:prstGeom>
          <a:solidFill>
            <a:srgbClr val="E4EEDF"/>
          </a:solidFill>
          <a:ln/>
        </p:spPr>
      </p:sp>
      <p:sp>
        <p:nvSpPr>
          <p:cNvPr id="23" name="Text 21"/>
          <p:cNvSpPr/>
          <p:nvPr/>
        </p:nvSpPr>
        <p:spPr>
          <a:xfrm>
            <a:off x="4555014" y="2377439"/>
            <a:ext cx="317435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Renewals and lifecycle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5014" y="2661921"/>
            <a:ext cx="317435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Yearly renewals, certificate expiry alerts and defect follow-ups.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41707" y="2225039"/>
            <a:ext cx="3437493" cy="1206500"/>
          </a:xfrm>
          <a:prstGeom prst="roundRect">
            <a:avLst>
              <a:gd name="adj" fmla="val 12632"/>
            </a:avLst>
          </a:prstGeom>
          <a:solidFill>
            <a:srgbClr val="EADFCB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507" y="2377439"/>
            <a:ext cx="317435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India's digital rails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19507" y="2661921"/>
            <a:ext cx="31743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DigiLocker documents, DBT payment tracking and BHASHINI voice in Indian languages.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558539"/>
            <a:ext cx="3437414" cy="1206500"/>
          </a:xfrm>
          <a:prstGeom prst="roundRect">
            <a:avLst>
              <a:gd name="adj" fmla="val 12632"/>
            </a:avLst>
          </a:prstGeom>
          <a:solidFill>
            <a:srgbClr val="F3E7C9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3710939"/>
            <a:ext cx="31742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Smarter 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3995421"/>
            <a:ext cx="317426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Rejection-risk scorer, eligibility simulator and a family benefit planner.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77214" y="3558539"/>
            <a:ext cx="3437493" cy="1206500"/>
          </a:xfrm>
          <a:prstGeom prst="roundRect">
            <a:avLst>
              <a:gd name="adj" fmla="val 12632"/>
            </a:avLst>
          </a:prstGeom>
          <a:solidFill>
            <a:srgbClr val="F2DCD0"/>
          </a:solidFill>
          <a:ln/>
        </p:spPr>
      </p:sp>
      <p:sp>
        <p:nvSpPr>
          <p:cNvPr id="32" name="Text 30"/>
          <p:cNvSpPr/>
          <p:nvPr/>
        </p:nvSpPr>
        <p:spPr>
          <a:xfrm>
            <a:off x="4555014" y="3710939"/>
            <a:ext cx="317435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Live-web radar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5014" y="3995421"/>
            <a:ext cx="317435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TinyFish watches official portals for new schemes and deadline changes.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41707" y="3558539"/>
            <a:ext cx="3437493" cy="1206500"/>
          </a:xfrm>
          <a:prstGeom prst="roundRect">
            <a:avLst>
              <a:gd name="adj" fmla="val 12632"/>
            </a:avLst>
          </a:prstGeom>
          <a:solidFill>
            <a:srgbClr val="B38D6B"/>
          </a:solidFill>
          <a:ln/>
        </p:spPr>
      </p:sp>
      <p:sp>
        <p:nvSpPr>
          <p:cNvPr id="35" name="Text 33"/>
          <p:cNvSpPr/>
          <p:nvPr/>
        </p:nvSpPr>
        <p:spPr>
          <a:xfrm>
            <a:off x="8119507" y="3710939"/>
            <a:ext cx="317435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infrastructure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19507" y="3995421"/>
            <a:ext cx="31743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F5A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Counselor networks and government dashboards on funnels, dropouts and rejection reasons.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800" y="4937764"/>
            <a:ext cx="10566400" cy="1031240"/>
          </a:xfrm>
          <a:prstGeom prst="roundRect">
            <a:avLst>
              <a:gd name="adj" fmla="val 14778"/>
            </a:avLst>
          </a:prstGeom>
          <a:solidFill>
            <a:srgbClr val="0F3D2E"/>
          </a:solidFill>
          <a:ln/>
        </p:spPr>
      </p:sp>
      <p:sp>
        <p:nvSpPr>
          <p:cNvPr id="38" name="Text 36"/>
          <p:cNvSpPr/>
          <p:nvPr/>
        </p:nvSpPr>
        <p:spPr>
          <a:xfrm>
            <a:off x="1041400" y="5090164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8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FIVE YEARS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1400" y="5354321"/>
            <a:ext cx="10412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“You may be eligible for 7 benefits. Two deadlines are close, and your income certificate expires in 30 days. I can prepare the renewal.”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42"/>
            <a:ext cx="26673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 · Thank you, Team CodeRush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28000" y="571500"/>
            <a:ext cx="3139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05834A"/>
                </a:solidFill>
                <a:latin typeface="Caveat" pitchFamily="18" charset="0"/>
                <a:ea typeface="Caveat" pitchFamily="18" charset="-122"/>
                <a:cs typeface="Caveat" pitchFamily="18" charset="-120"/>
              </a:rPr>
              <a:t>big dreams, small steps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meSaathi">
  <a:themeElements>
    <a:clrScheme name="SchemeSaathi">
      <a:dk1>
        <a:srgbClr val="05834A"/>
      </a:dk1>
      <a:lt1>
        <a:srgbClr val="F6F1E7"/>
      </a:lt1>
      <a:dk2>
        <a:srgbClr val="419F71"/>
      </a:dk2>
      <a:lt2>
        <a:srgbClr val="DEE6D7"/>
      </a:lt2>
      <a:accent1>
        <a:srgbClr val="0F3D2E"/>
      </a:accent1>
      <a:accent2>
        <a:srgbClr val="B38D6B"/>
      </a:accent2>
      <a:accent3>
        <a:srgbClr val="16503C"/>
      </a:accent3>
      <a:accent4>
        <a:srgbClr val="12463A"/>
      </a:accent4>
      <a:accent5>
        <a:srgbClr val="F7D98B"/>
      </a:accent5>
      <a:accent6>
        <a:srgbClr val="F2B88A"/>
      </a:accent6>
      <a:hlink>
        <a:srgbClr val="0563C1"/>
      </a:hlink>
      <a:folHlink>
        <a:srgbClr val="954F72"/>
      </a:folHlink>
    </a:clrScheme>
    <a:fontScheme name="SchemeSaathi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SchemeSaathi</dc:title>
  <dc:subject/>
  <dc:creator/>
  <cp:lastModifiedBy/>
  <cp:revision>1</cp:revision>
  <dcterms:created xsi:type="dcterms:W3CDTF">2026-10-19T12:16:09Z</dcterms:created>
  <dcterms:modified xsi:type="dcterms:W3CDTF">2026-10-19T12:16:09Z</dcterms:modified>
</cp:coreProperties>
</file>